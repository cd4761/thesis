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L2 노드 수에 따른 TPS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TPS</c:v>
                </c:pt>
              </c:strCache>
            </c:strRef>
          </c:tx>
          <c:spPr>
            <a:solidFill>
              <a:srgbClr val="17A2B8"/>
            </a:solidFill>
            <a:ln w="38100" cap="flat">
              <a:solidFill>
                <a:srgbClr val="17A2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7A2B8"/>
              </a:solidFill>
              <a:ln w="9525" cap="flat">
                <a:solidFill>
                  <a:srgbClr val="17A2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698</c:v>
                </c:pt>
                <c:pt idx="1">
                  <c:v>3484</c:v>
                </c:pt>
                <c:pt idx="2">
                  <c:v>6989</c:v>
                </c:pt>
                <c:pt idx="3">
                  <c:v>10483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L2 노드 수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TPS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숭실대학교 대학원 컴퓨터학과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롤업의 분쟁 해결 지연 문제 극복을 위한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하이브리드 프로토콜 설계 및 응용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and Application of a Hybrid Protocol for Overcoming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 Resolution Delays in Optimistic Rollups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박사학위 청구논문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황재승 (Jae-seung Hwang)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2월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 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 1 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73736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서론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 2 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1645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연구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 3 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37360" y="2194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CBDC 시스템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 4 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2743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분산 스토리지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 5 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3200400" cy="365760"/>
          </a:xfrm>
          <a:prstGeom prst="rect">
            <a:avLst/>
          </a:prstGeom>
          <a:solidFill>
            <a:srgbClr val="FEF9E7"/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상태 채널 기반 하이브리드 분쟁 프로토콜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 6 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연구 배경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블록체인 확장성 문제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이더리움 메인넷: 15-30 TPS, 높은 가스 비용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대중적 서비스 적용의 근본적 한계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블록체인 트릴레마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2560320"/>
            <a:ext cx="1828800" cy="548640"/>
          </a:xfrm>
          <a:prstGeom prst="rect">
            <a:avLst>
              <a:gd name="adj" fmla="val 16667"/>
            </a:avLst>
          </a:prstGeom>
          <a:solidFill>
            <a:srgbClr val="1C2833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탈중앙화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2560320"/>
            <a:ext cx="1828800" cy="548640"/>
          </a:xfrm>
          <a:prstGeom prst="rect">
            <a:avLst>
              <a:gd name="adj" fmla="val 16667"/>
            </a:avLst>
          </a:prstGeom>
          <a:solidFill>
            <a:srgbClr val="1C2833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2560320"/>
            <a:ext cx="1828800" cy="548640"/>
          </a:xfrm>
          <a:prstGeom prst="rect">
            <a:avLst>
              <a:gd name="adj" fmla="val 16667"/>
            </a:avLst>
          </a:prstGeom>
          <a:solidFill>
            <a:srgbClr val="1C2833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 2 솔루션의 등장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solidFill>
            <a:srgbClr val="E8F8F5"/>
          </a:solidFill>
          <a:ln w="25400">
            <a:solidFill>
              <a:srgbClr val="17A2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롤업: 오프체인 실행 + 온체인 검증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Arbitrum, Optimism 등 실제 운영 중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연구 배경 - 핵심 문제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914400"/>
          </a:xfrm>
          <a:prstGeom prst="rect">
            <a:avLst>
              <a:gd name="adj" fmla="val 10000"/>
            </a:avLst>
          </a:prstGeom>
          <a:solidFill>
            <a:srgbClr val="FDEDEC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1887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롤업의 치명적 한계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발생 시 7일간의 이의 제기 기간 필수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실질적 영향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24688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 서비스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결제 불가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2651760"/>
            <a:ext cx="24688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거래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7일 대기 필수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651760"/>
            <a:ext cx="24688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1792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경험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제약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E8F8F5"/>
          </a:solidFill>
          <a:ln w="25400">
            <a:solidFill>
              <a:srgbClr val="17A2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목표: 7일 확정 지연 → 1~2시간으로 단축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연구 기여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학문적 기여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265176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이론적 기여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RVP 패러다임 제안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280160"/>
            <a:ext cx="265176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기술적 기여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691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오프체인 이등분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온디맨드 ZK 증명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65176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280160"/>
            <a:ext cx="265176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실증적 기여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691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CBDC, 스토리지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적용 검증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논문 구성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320040" cy="32004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9443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926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CBDC 시스템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출판 완료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383280"/>
            <a:ext cx="320040" cy="32004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4015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383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분산 스토리지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출판 확정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840480"/>
            <a:ext cx="320040" cy="32004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8587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3840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상태 채널 기반 하이브리드 분쟁 프로토콜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초안 완성 (핵심 기여)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관련 연구 - 롤업 기술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 w="25400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방식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사기 증명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 시간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 비용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EVM 호환성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Arbitrum, Optimism, Base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402336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 w="25400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롤업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방식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유효성 증명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828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 시간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194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 비용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EVM 호환성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zkSync, Polygon zkEVM, Scroll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트레이드오프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3703320"/>
            <a:ext cx="8412480" cy="640080"/>
          </a:xfrm>
          <a:prstGeom prst="rect">
            <a:avLst/>
          </a:prstGeom>
          <a:solidFill>
            <a:srgbClr val="FDEDE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옵티미스틱: 비용 효율적이나 7일 확정 지연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ZK: 즉시 확정이나 높은 증명 비용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CBDC 시스템 -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365760"/>
          </a:xfrm>
          <a:prstGeom prst="rect">
            <a:avLst>
              <a:gd name="adj" fmla="val 12500"/>
            </a:avLst>
          </a:prstGeom>
          <a:solidFill>
            <a:srgbClr val="17A2B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중앙은행 디지털 화폐 (CBDC)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중앙은행이 발행하는 디지털 형태의 법정화폐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기술적 요구사항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48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높은 처리량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103120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148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낮은 거래 비용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103120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148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선형적 확장성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프라이버시 보호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2560320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규제 준수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접근법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822960"/>
          </a:xfrm>
          <a:prstGeom prst="rect">
            <a:avLst>
              <a:gd name="adj" fmla="val 11111"/>
            </a:avLst>
          </a:prstGeom>
          <a:solidFill>
            <a:srgbClr val="E8F8F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2계층 CBDC 아키텍처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중앙은행(L1) + 시중은행(L2) 구조로 실제 금융 시스템 반영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CBDC 시스템 - 아키텍처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365760"/>
          </a:xfrm>
          <a:prstGeom prst="rect">
            <a:avLst>
              <a:gd name="adj" fmla="val 12500"/>
            </a:avLst>
          </a:prstGeom>
          <a:solidFill>
            <a:srgbClr val="17A2B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3657600" cy="914400"/>
          </a:xfrm>
          <a:prstGeom prst="rect">
            <a:avLst>
              <a:gd name="adj" fmla="val 10000"/>
            </a:avLst>
          </a:prstGeom>
          <a:solidFill>
            <a:srgbClr val="1C2833"/>
          </a:solidFill>
          <a:ln w="381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중앙은행 계층 (L1)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CBDC 발행/소각, 최종 상태 기록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↑↓ 상태 커밋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1280160" cy="731520"/>
          </a:xfrm>
          <a:prstGeom prst="rect">
            <a:avLst>
              <a:gd name="adj" fmla="val 12500"/>
            </a:avLst>
          </a:prstGeom>
          <a:solidFill>
            <a:srgbClr val="17A2B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51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시중은행 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718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롤업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0" y="2560320"/>
            <a:ext cx="1280160" cy="731520"/>
          </a:xfrm>
          <a:prstGeom prst="rect">
            <a:avLst>
              <a:gd name="adj" fmla="val 12500"/>
            </a:avLst>
          </a:prstGeom>
          <a:solidFill>
            <a:srgbClr val="17A2B8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2651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시중은행 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29718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롤업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2560320"/>
            <a:ext cx="1280160" cy="731520"/>
          </a:xfrm>
          <a:prstGeom prst="rect">
            <a:avLst>
              <a:gd name="adj" fmla="val 12500"/>
            </a:avLst>
          </a:prstGeom>
          <a:solidFill>
            <a:srgbClr val="17A2B8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2651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시중은행 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9718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롤업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L1: 중앙은행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1417320"/>
            <a:ext cx="3657600" cy="4572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508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CBDC 발행/소각 - 통화 정책 수행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1920240"/>
            <a:ext cx="3657600" cy="4572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루트 검증 - 롤업 최종 확정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L2: 시중은행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0" y="2880360"/>
            <a:ext cx="3657600" cy="4572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2971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소매 거래 처리 - 개별 롤업 운영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3383280"/>
            <a:ext cx="3657600" cy="4572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제출 - 거래 일괄 처리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CBDC 시스템 - 실험 결과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365760"/>
          </a:xfrm>
          <a:prstGeom prst="rect">
            <a:avLst>
              <a:gd name="adj" fmla="val 12500"/>
            </a:avLst>
          </a:prstGeom>
          <a:solidFill>
            <a:srgbClr val="17A2B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확장성 실험 결과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28016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029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성과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0" y="1280160"/>
            <a:ext cx="3657600" cy="1097280"/>
          </a:xfrm>
          <a:prstGeom prst="rect">
            <a:avLst>
              <a:gd name="adj" fmla="val 8333"/>
            </a:avLst>
          </a:prstGeom>
          <a:solidFill>
            <a:srgbClr val="E8F8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선형 확장성 달성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120640" y="1783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노드 15개: 10,483 TPS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 수 비례 15.02x 확장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 한계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0" y="2880360"/>
            <a:ext cx="3657600" cy="822960"/>
          </a:xfrm>
          <a:prstGeom prst="rect">
            <a:avLst>
              <a:gd name="adj" fmla="val 11111"/>
            </a:avLst>
          </a:prstGeom>
          <a:solidFill>
            <a:srgbClr val="FDEDE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20640" y="2971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7일 확정 지연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120640" y="3246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 서비스에서 즉시 결제 불가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거래 요구사항 미충족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분산 스토리지 -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365760"/>
          </a:xfrm>
          <a:prstGeom prst="rect">
            <a:avLst>
              <a:gd name="adj" fmla="val 12500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블록체인 기반 분산 스토리지의 문제점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1188720"/>
          </a:xfrm>
          <a:prstGeom prst="rect">
            <a:avLst>
              <a:gd name="adj" fmla="val 7692"/>
            </a:avLst>
          </a:prstGeom>
          <a:solidFill>
            <a:srgbClr val="FDEDE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IPFS-이더리움 통합 시스템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파일당 개별 온체인 거래 필요
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1000 파일 저장 시 약 $2,847 가스 비용
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네트워크 혼잡 시 심각한 처리 지연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접근법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914400"/>
          </a:xfrm>
          <a:prstGeom prst="rect">
            <a:avLst>
              <a:gd name="adj" fmla="val 10000"/>
            </a:avLst>
          </a:prstGeom>
          <a:solidFill>
            <a:srgbClr val="E8F8F5"/>
          </a:solidFill>
          <a:ln w="25400">
            <a:solidFill>
              <a:srgbClr val="17A2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중간 계층 도입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 + 옵티미스틱 롤업(L2) + 이더리움(L1) 3계층 구조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메타데이터 배치 처리로 거래 수 대폭 감소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분산 스토리지 - 아키텍처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365760"/>
          </a:xfrm>
          <a:prstGeom prst="rect">
            <a:avLst>
              <a:gd name="adj" fmla="val 12500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3657600" cy="731520"/>
          </a:xfrm>
          <a:prstGeom prst="rect">
            <a:avLst>
              <a:gd name="adj" fmla="val 12500"/>
            </a:avLst>
          </a:prstGeom>
          <a:solidFill>
            <a:srgbClr val="1C2833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이더리움 메인넷 (L1)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롤업 상태 루트 저장, 최종 검증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1783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103120"/>
            <a:ext cx="3657600" cy="731520"/>
          </a:xfrm>
          <a:prstGeom prst="rect">
            <a:avLst>
              <a:gd name="adj" fmla="val 12500"/>
            </a:avLst>
          </a:prstGeom>
          <a:solidFill>
            <a:srgbClr val="17A2B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(L2)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5146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메타데이터 배치 처리, CID 등록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2880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3657600" cy="731520"/>
          </a:xfrm>
          <a:prstGeom prst="rect">
            <a:avLst>
              <a:gd name="adj" fmla="val 12500"/>
            </a:avLst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291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611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파일 데이터 저장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개선 사항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1371600"/>
            <a:ext cx="3840480" cy="6858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 일괄 처리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개별 파일 등록을 배치로 묶어 L1 제출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148840"/>
            <a:ext cx="3840480" cy="6858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비용 분담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내 거래들이 L1 비용 공유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926080"/>
            <a:ext cx="3840480" cy="6858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오프체인 실행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메타데이터 처리를 L2에서 수행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분산 스토리지 - 실험 결과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365760"/>
          </a:xfrm>
          <a:prstGeom prst="rect">
            <a:avLst>
              <a:gd name="adj" fmla="val 12500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128016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절감률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$2,847 → $0.28 (1000 파일)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128016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시간 개선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3258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99.4%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4.6시간 → 1.7분 (1000 파일)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822960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solidFill>
            <a:srgbClr val="F4F6F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423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메인넷 직접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롤업 적용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2788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거래 비용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2788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$2.85/건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2788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$0.00028/건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108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처리 시간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108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16.5초/건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3108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0.1초/건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FDEDE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49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 한계: 7일 확정 지연 - 파일 소유권 이전, 삭제 요청의 즉각적 상태 변경 불가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1, 2의 공통 한계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0" y="1920240"/>
            <a:ext cx="5486400" cy="731520"/>
          </a:xfrm>
          <a:prstGeom prst="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1920240" y="2057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발생 시 7일 확정 지연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2926080"/>
            <a:ext cx="2926080" cy="1005840"/>
          </a:xfrm>
          <a:prstGeom prst="rect">
            <a:avLst>
              <a:gd name="adj" fmla="val 9091"/>
            </a:avLst>
          </a:prstGeom>
          <a:solidFill>
            <a:srgbClr val="2E4053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CBDC 시스템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10,483 TPS 달성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3611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7일 대기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926080"/>
            <a:ext cx="2926080" cy="1005840"/>
          </a:xfrm>
          <a:prstGeom prst="rect">
            <a:avLst>
              <a:gd name="adj" fmla="val 9091"/>
            </a:avLst>
          </a:prstGeom>
          <a:solidFill>
            <a:srgbClr val="2E4053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 스토리지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99.99% 비용 절감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3611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7일 대기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 문제를 해결하는 것이 논문 3의 핵심 기여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RVP 패러다임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182880"/>
            <a:ext cx="1280160" cy="365760"/>
          </a:xfrm>
          <a:prstGeom prst="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228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Validity Proof (적응형 유효성 증명)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"정상 시에는 옵티미스틱, 분쟁 시에만 ZK 증명"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3931920" cy="2194560"/>
          </a:xfrm>
          <a:prstGeom prst="rect">
            <a:avLst>
              <a:gd name="adj" fmla="val 4167"/>
            </a:avLst>
          </a:prstGeom>
          <a:solidFill>
            <a:srgbClr val="E8F8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경로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99%+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26060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실행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이의 없음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확정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비용: 낮음 | 시간: 짧은 이의제기 기간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645920"/>
            <a:ext cx="3931920" cy="2194560"/>
          </a:xfrm>
          <a:prstGeom prst="rect">
            <a:avLst>
              <a:gd name="adj" fmla="val 4167"/>
            </a:avLst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경로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103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46320" y="26060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이의 제기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오프체인 이등분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온디맨드 ZK 증명 → 판정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383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비용: 분쟁 당사자 부담 | 시간: 1~2시간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8229600" cy="548640"/>
          </a:xfrm>
          <a:prstGeom prst="rect">
            <a:avLst>
              <a:gd name="adj" fmla="val 16667"/>
            </a:avLst>
          </a:prstGeom>
          <a:solidFill>
            <a:srgbClr val="1C283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옵티미스틱의 비용 효율성 + ZK의 빠른 확정 = 최적 조합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오프체인 이등분 탐색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182880"/>
            <a:ext cx="1280160" cy="365760"/>
          </a:xfrm>
          <a:prstGeom prst="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228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방식의 문제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931920" cy="640080"/>
          </a:xfrm>
          <a:prstGeom prst="rect">
            <a:avLst>
              <a:gd name="adj" fmla="val 7143"/>
            </a:avLst>
          </a:prstGeom>
          <a:solidFill>
            <a:srgbClr val="FDEDE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온체인 이등분 탐색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각 라운드마다 온체인 거래 → 높은 비용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방식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931920" cy="640080"/>
          </a:xfrm>
          <a:prstGeom prst="rect">
            <a:avLst>
              <a:gd name="adj" fmla="val 7143"/>
            </a:avLst>
          </a:prstGeom>
          <a:solidFill>
            <a:srgbClr val="E8F8F5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774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상태 채널 기반 오프체인 이등분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온체인 비용 없이 빠른 탐색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931920" cy="1005840"/>
          </a:xfrm>
          <a:prstGeom prst="rect">
            <a:avLst>
              <a:gd name="adj" fmla="val 9091"/>
            </a:avLst>
          </a:prstGeom>
          <a:solidFill>
            <a:srgbClr val="1C283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004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1백만 명령어 탐색: ~20 라운드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 복잡도: O(log 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소요 시간: 수 분 내 완료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프로토콜 흐름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234440"/>
            <a:ext cx="3931920" cy="2880360"/>
          </a:xfrm>
          <a:prstGeom prst="rect">
            <a:avLst>
              <a:gd name="adj" fmla="val 3175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1371600"/>
            <a:ext cx="320040" cy="32004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38988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1371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발생 시 상태 채널 개설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1874520"/>
            <a:ext cx="320040" cy="32004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89280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0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오프체인에서 이등분 탐색 수행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2377440"/>
            <a:ext cx="320040" cy="32004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3957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2377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상태 전이에 ZK 서명 첨부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2880360"/>
            <a:ext cx="320040" cy="32004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89864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94960" y="2880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지점 (단일 명령어) 식별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3383280"/>
            <a:ext cx="320040" cy="32004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34015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3383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결과를 온체인에 제출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온디맨드 유효성 증명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182880"/>
            <a:ext cx="1280160" cy="365760"/>
          </a:xfrm>
          <a:prstGeom prst="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228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640080"/>
          </a:xfrm>
          <a:prstGeom prst="rect">
            <a:avLst>
              <a:gd name="adj" fmla="val 14286"/>
            </a:avLst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아이디어: 단일 명령어만 증명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배치가 아닌, 분쟁 지점의 단일 EVM 명령어에 대해서만 ZK 증명 생성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 생성 프로세스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20116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88720" y="2148840"/>
            <a:ext cx="365760" cy="36576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21762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준비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지점 명령어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전/후 상태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06040" y="2057400"/>
            <a:ext cx="20116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2148840"/>
            <a:ext cx="365760" cy="36576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21762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9748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증명 생성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ZK-EVM 회로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명령어 증명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057400"/>
            <a:ext cx="20116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2148840"/>
            <a:ext cx="365760" cy="36576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21762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온체인 제출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컨트랙트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 검증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03720" y="2057400"/>
            <a:ext cx="20116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35240" y="2148840"/>
            <a:ext cx="365760" cy="36576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27" name="Text 25"/>
          <p:cNvSpPr/>
          <p:nvPr/>
        </p:nvSpPr>
        <p:spPr>
          <a:xfrm>
            <a:off x="7635240" y="21762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516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516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정직한 당사자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승리 선언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3749040"/>
            <a:ext cx="2651760" cy="685800"/>
          </a:xfrm>
          <a:prstGeom prst="rect">
            <a:avLst>
              <a:gd name="adj" fmla="val 13333"/>
            </a:avLst>
          </a:prstGeom>
          <a:solidFill>
            <a:srgbClr val="E8F8F5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794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 크기 최소화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4069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배치 대비 극소량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91840" y="3749040"/>
            <a:ext cx="2651760" cy="685800"/>
          </a:xfrm>
          <a:prstGeom prst="rect">
            <a:avLst>
              <a:gd name="adj" fmla="val 13333"/>
            </a:avLst>
          </a:prstGeom>
          <a:solidFill>
            <a:srgbClr val="E8F8F5"/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0" y="3794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시간 단축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83280" y="4069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명령어로 빠른 생성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3749040"/>
            <a:ext cx="2651760" cy="685800"/>
          </a:xfrm>
          <a:prstGeom prst="rect">
            <a:avLst>
              <a:gd name="adj" fmla="val 13333"/>
            </a:avLst>
          </a:prstGeom>
          <a:solidFill>
            <a:srgbClr val="E8F8F5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3794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효율성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17920" y="4069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시에만 비용 발생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실험 결과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182880"/>
            <a:ext cx="1280160" cy="365760"/>
          </a:xfrm>
          <a:prstGeom prst="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228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393192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비용 절감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5M gas → 20K gas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393192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14400"/>
            <a:ext cx="393192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 시간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280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1~2시간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46320" y="1737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7일 → 1~2시간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방식과 종합 비교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82296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560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방식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2926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시 비용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3464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2926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273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시 비용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34640" y="3273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3273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32735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36210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 시간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34640" y="3621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7일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3440" y="3621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36210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1~2시간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39684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EVM 호환성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834640" y="3968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63440" y="3968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92240" y="39684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논문 1, 2 시스템에의 적용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하이브리드 프로토콜 통합 효과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CBDC 시스템 (논문 1)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749040" cy="914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7일 확정 지연  →  After: 1~2시간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실시간에 가까운 금융 거래 확정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기존 2계층 아키텍처 그대로 유지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금융 규제 요건 충족 가능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93192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 스토리지 (논문 2)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691640"/>
            <a:ext cx="3749040" cy="914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7일 확정 지연  →  After: 1~2시간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파일 소유권 이전/삭제의 신속한 확정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99.99% 비용 절감 효과 유지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사용자 경험 대폭 개선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914400"/>
          </a:xfrm>
          <a:prstGeom prst="rect">
            <a:avLst>
              <a:gd name="adj" fmla="val 10000"/>
            </a:avLst>
          </a:prstGeom>
          <a:solidFill>
            <a:srgbClr val="E8F8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솔루션 완성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1, 2에서 제기된 분쟁 해결 지연 문제가 논문 3의 하이브리드 프로토콜로 해결되어,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롤업의 장점을 온전히 활용할 수 있는 완전한 계층 2 솔루션이 구축됨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학문적 기여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51560"/>
            <a:ext cx="411480" cy="41148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7899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이론적 기여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RVP 패러다임 제안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옵티미스틱과 ZK의 장점을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상황에 따라 적응적으로 결합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26517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914400"/>
            <a:ext cx="265176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1051560"/>
            <a:ext cx="411480" cy="41148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07899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7764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프로토콜 설계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오프체인 이등분 + 온디맨드 ZK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해결 가스 99.6% 절감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 시간 7일→1~2시간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914400"/>
            <a:ext cx="26517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914400"/>
            <a:ext cx="265176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1051560"/>
            <a:ext cx="411480" cy="41148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07899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228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실증적 기여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 도메인 검증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CBDC, 분산 스토리지에서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 가능성 및 성능 실증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8229600" cy="1280160"/>
          </a:xfrm>
          <a:prstGeom prst="rect">
            <a:avLst>
              <a:gd name="adj" fmla="val 7143"/>
            </a:avLst>
          </a:prstGeom>
          <a:solidFill>
            <a:srgbClr val="1C2833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2971800"/>
            <a:ext cx="731520" cy="274320"/>
          </a:xfrm>
          <a:prstGeom prst="rect">
            <a:avLst>
              <a:gd name="adj" fmla="val 16667"/>
            </a:avLst>
          </a:prstGeom>
          <a:solidFill>
            <a:srgbClr val="17A2B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9900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63040" y="2971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CBDC 시스템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출판 완료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3337560"/>
            <a:ext cx="731520" cy="274320"/>
          </a:xfrm>
          <a:prstGeom prst="rect">
            <a:avLst>
              <a:gd name="adj" fmla="val 16667"/>
            </a:avLst>
          </a:prstGeom>
          <a:solidFill>
            <a:srgbClr val="17A2B8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35584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63040" y="3337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분산 스토리지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출판 확정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3703320"/>
            <a:ext cx="731520" cy="274320"/>
          </a:xfrm>
          <a:prstGeom prst="rect">
            <a:avLst>
              <a:gd name="adj" fmla="val 16667"/>
            </a:avLst>
          </a:prstGeom>
          <a:solidFill>
            <a:srgbClr val="17A2B8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721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463040" y="3703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상태 채널 기반 하이브리드 분쟁 프로토콜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초안 완성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연구의 한계 및 향후 연구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연구의 한계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411480"/>
          </a:xfrm>
          <a:prstGeom prst="rect">
            <a:avLst>
              <a:gd name="adj" fmla="val 11111"/>
            </a:avLst>
          </a:prstGeom>
          <a:solidFill>
            <a:srgbClr val="FDEDE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ZK-EVM 기술 성숙도에 따른 증명 생성 시간 변동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931920" cy="411480"/>
          </a:xfrm>
          <a:prstGeom prst="rect">
            <a:avLst>
              <a:gd name="adj" fmla="val 11111"/>
            </a:avLst>
          </a:prstGeom>
          <a:solidFill>
            <a:srgbClr val="FDEDE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스마트 컨트랙트에서의 증명 크기 증가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931920" cy="411480"/>
          </a:xfrm>
          <a:prstGeom prst="rect">
            <a:avLst>
              <a:gd name="adj" fmla="val 11111"/>
            </a:avLst>
          </a:prstGeom>
          <a:solidFill>
            <a:srgbClr val="FDEDE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채널 참여자의 온라인 요구사항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3931920" cy="411480"/>
          </a:xfrm>
          <a:prstGeom prst="rect">
            <a:avLst>
              <a:gd name="adj" fmla="val 11111"/>
            </a:avLst>
          </a:prstGeom>
          <a:solidFill>
            <a:srgbClr val="FDEDE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실제 환경에서의 추가 검증 필요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연구 방향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3931920" cy="777240"/>
          </a:xfrm>
          <a:prstGeom prst="rect">
            <a:avLst>
              <a:gd name="adj" fmla="val 5882"/>
            </a:avLst>
          </a:prstGeom>
          <a:solidFill>
            <a:srgbClr val="E8F8F5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25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기술적 확장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롤업 간 상호운용성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 집계를 통한 추가 비용 절감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148840"/>
            <a:ext cx="3931920" cy="777240"/>
          </a:xfrm>
          <a:prstGeom prst="rect">
            <a:avLst>
              <a:gd name="adj" fmla="val 5882"/>
            </a:avLst>
          </a:prstGeom>
          <a:solidFill>
            <a:srgbClr val="E8F8F5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응용 확장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4688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탈중앙화 금융(DeFi) 프로토콜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공급망 관리, 디지털 신원 인증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3931920" cy="777240"/>
          </a:xfrm>
          <a:prstGeom prst="rect">
            <a:avLst>
              <a:gd name="adj" fmla="val 5882"/>
            </a:avLst>
          </a:prstGeom>
          <a:solidFill>
            <a:srgbClr val="E8F8F5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063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이론적 심화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337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다자간 분쟁 해결 프로토콜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양자 내성 영지식 증명 통합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요약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2286000" cy="1188720"/>
          </a:xfrm>
          <a:prstGeom prst="rect">
            <a:avLst>
              <a:gd name="adj" fmla="val 7692"/>
            </a:avLst>
          </a:prstGeom>
          <a:solidFill>
            <a:srgbClr val="2E405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출판 논문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286000" cy="1188720"/>
          </a:xfrm>
          <a:prstGeom prst="rect">
            <a:avLst>
              <a:gd name="adj" fmla="val 7692"/>
            </a:avLst>
          </a:prstGeom>
          <a:solidFill>
            <a:srgbClr val="2E4053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비용 절감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2286000" cy="1188720"/>
          </a:xfrm>
          <a:prstGeom prst="rect">
            <a:avLst>
              <a:gd name="adj" fmla="val 7692"/>
            </a:avLst>
          </a:prstGeom>
          <a:solidFill>
            <a:srgbClr val="2E4053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1~2h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03504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 시간 (7일→)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3108960"/>
            <a:ext cx="6400800" cy="914400"/>
          </a:xfrm>
          <a:prstGeom prst="rect">
            <a:avLst>
              <a:gd name="adj" fmla="val 10000"/>
            </a:avLst>
          </a:prstGeom>
          <a:solidFill>
            <a:srgbClr val="17A2B8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32004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옵티미스틱의 비용 효율성 + ZK의 빠른 확정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611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하이브리드 프로토콜로 블록체인 확장성 트릴레마의 새로운 해결책 제시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attention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롤업의 분쟁 해결 지연 문제 극복을 위한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하이브리드 프로토콜 설계 및 응용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숭실대학교 대학원 컴퓨터학과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황재승 (Jae-seung Hwang)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4297680"/>
            <a:ext cx="2743200" cy="457200"/>
          </a:xfrm>
          <a:prstGeom prst="rect">
            <a:avLst>
              <a:gd name="adj" fmla="val 20000"/>
            </a:avLst>
          </a:prstGeom>
          <a:solidFill>
            <a:srgbClr val="2E4053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숭실대학교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옵티미스틱 롤업의 분쟁 해결 지연 문제 극복을 위한 하이브리드 프로토콜 설계 및 응용</dc:title>
  <dc:subject>박사학위 청구논문</dc:subject>
  <dc:creator>Jae-seung Hwang</dc:creator>
  <cp:lastModifiedBy>Jae-seung Hwang</cp:lastModifiedBy>
  <cp:revision>1</cp:revision>
  <dcterms:created xsi:type="dcterms:W3CDTF">2026-01-25T15:39:59Z</dcterms:created>
  <dcterms:modified xsi:type="dcterms:W3CDTF">2026-01-25T15:39:59Z</dcterms:modified>
</cp:coreProperties>
</file>