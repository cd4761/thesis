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L2 노드 수에 따른 TPS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TPS</c:v>
                </c:pt>
              </c:strCache>
            </c:strRef>
          </c:tx>
          <c:spPr>
            <a:solidFill>
              <a:srgbClr val="17A2B8"/>
            </a:solidFill>
            <a:ln w="38100" cap="flat">
              <a:solidFill>
                <a:srgbClr val="17A2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A2B8"/>
              </a:solidFill>
              <a:ln w="9525" cap="flat">
                <a:solidFill>
                  <a:srgbClr val="17A2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698</c:v>
                </c:pt>
                <c:pt idx="1">
                  <c:v>3484</c:v>
                </c:pt>
                <c:pt idx="2">
                  <c:v>6989</c:v>
                </c:pt>
                <c:pt idx="3">
                  <c:v>10483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L2 노드 수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TPS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숭실대학교 대학원 컴퓨터학과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분쟁 해결 지연 문제 극복을 위한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설계 및 응용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Application of a Hybrid Protocol for Overcoming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Resolution Delays in Optimistic Rollups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박사학위 청구논문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지도교수: 김영한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황재승 (Jae-seung Hwang)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2월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 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1 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37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2 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연구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3 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4 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5 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3200400" cy="365760"/>
          </a:xfrm>
          <a:prstGeom prst="rect">
            <a:avLst/>
          </a:prstGeom>
          <a:solidFill>
            <a:srgbClr val="FEF9E7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6 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배경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확장성 문제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이더리움 메인넷: 15-30 TPS, 높은 가스 비용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대중적 서비스 적용의 근본적 한계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트릴레마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탈중앙화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2 솔루션의 등장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롤업: 오프체인 실행 + 온체인 검증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Arbitrum, Optimism 등 실제 운영 중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배경 - 핵심 문제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914400"/>
          </a:xfrm>
          <a:prstGeom prst="rect">
            <a:avLst>
              <a:gd name="adj" fmla="val 10000"/>
            </a:avLst>
          </a:prstGeom>
          <a:solidFill>
            <a:srgbClr val="FDEDEC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치명적 한계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발생 시 7일간의 이의 제기 기간 필수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실질적 영향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서비스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결제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거래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대기 필수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경험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제약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목표: 7일 확정 지연 → 1~2시간으로 단축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기여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학문적 기여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기여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RVP 패러다임 제안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기여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 이등분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온디맨드 ZK 증명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실증적 기여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CBDC, 스토리지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적용 검증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논문 구성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443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완료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015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확정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587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완성 (핵심 기여)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관련 연구 - 롤업 기술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 w="2540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사기 증명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비용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호환성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Arbitrum, Optimism, 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0233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 w="2540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롤업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유효성 증명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비용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호환성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zkSync, Polygon zkEVM, Scroll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트레이드오프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64008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옵티미스틱: 비용 효율적이나 7일 확정 지연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ZK: 즉시 확정이나 높은 증명 비용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 디지털 화폐 (CBDC)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중앙은행이 발행하는 디지털 형태의 법정화폐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요구사항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높은 처리량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낮은 거래 비용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선형적 확장성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프라이버시 보호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5603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준수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접근법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822960"/>
          </a:xfrm>
          <a:prstGeom prst="rect">
            <a:avLst>
              <a:gd name="adj" fmla="val 11111"/>
            </a:avLst>
          </a:prstGeom>
          <a:solidFill>
            <a:srgbClr val="E8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2계층 CBDC 아키텍처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중앙은행(L1) + 시중은행(L2) 구조로 실제 금융 시스템 반영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pic>
        <p:nvPicPr>
          <p:cNvPr id="6" name="Image 0" descr="C:\Users\cd476\workspace\thesis\presentation\images\cbdc_p6_img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L1↔L2 CBDC 입금 플로우 (Wallet → L1 → DTL → L2 → BS)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실험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 실험 결과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029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0" y="1280160"/>
            <a:ext cx="3657600" cy="1097280"/>
          </a:xfrm>
          <a:prstGeom prst="rect">
            <a:avLst>
              <a:gd name="adj" fmla="val 8333"/>
            </a:avLst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 확장성 달성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2064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노드 15개: 10,483 TPS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수 비례 15.02x 확장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한계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2880360"/>
            <a:ext cx="3657600" cy="82296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확정 지연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2064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서비스에서 즉시 결제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거래 요구사항 미충족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기반 분산 스토리지의 문제점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1188720"/>
          </a:xfrm>
          <a:prstGeom prst="rect">
            <a:avLst>
              <a:gd name="adj" fmla="val 7692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IPFS-이더리움 통합 시스템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파일당 개별 온체인 거래 필요
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1000 파일 저장 시 약 $2,847 가스 비용
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네트워크 혼잡 시 심각한 처리 지연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접근법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중간 계층 도입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+ 옵티미스틱 롤업(L2) + 이더리움(L1) 3계층 구조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메타데이터 배치 처리로 거래 수 대폭 감소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pic>
        <p:nvPicPr>
          <p:cNvPr id="6" name="Image 0" descr="C:\Users\cd476\workspace\thesis\presentation\images\storage_p9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 시퀀스 다이어그램: Data Owner/User ↔ Contracts ↔ L2 ↔ IPFS ↔ Ethereum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실험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$2,847 → $0.28 (1000 파일)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시간 개선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4.6시간 → 1.7분 (1000 파일)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메인넷 직접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롤업 적용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거래 비용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$2.85/건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$0.00028/건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처리 시간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16.5초/건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0.1초/건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한계: 7일 확정 지연 - 파일 소유권 이전, 삭제 요청의 즉각적 상태 변경 불가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1, 2의 공통 한계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920240"/>
            <a:ext cx="5486400" cy="73152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발생 시 7일 확정 지연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2926080" cy="1005840"/>
          </a:xfrm>
          <a:prstGeom prst="rect">
            <a:avLst>
              <a:gd name="adj" fmla="val 9091"/>
            </a:avLst>
          </a:prstGeom>
          <a:solidFill>
            <a:srgbClr val="2E4053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 시스템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10,483 TPS 달성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7일 대기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926080"/>
            <a:ext cx="2926080" cy="1005840"/>
          </a:xfrm>
          <a:prstGeom prst="rect">
            <a:avLst>
              <a:gd name="adj" fmla="val 9091"/>
            </a:avLst>
          </a:prstGeom>
          <a:solidFill>
            <a:srgbClr val="2E405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비용 절감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7일 대기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문제를 해결하는 것이 논문 3의 핵심 기여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RVP 패러다임 - 시스템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pic>
        <p:nvPicPr>
          <p:cNvPr id="6" name="Image 0" descr="C:\Users\cd476\workspace\thesis\presentation\images\zk_p5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411480"/>
          </a:xfrm>
          <a:prstGeom prst="rect">
            <a:avLst>
              <a:gd name="adj" fmla="val 22222"/>
            </a:avLst>
          </a:prstGeom>
          <a:solidFill>
            <a:srgbClr val="1C283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279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(Ethereum) + Off-chain ZK State Channel + Prover Network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오프체인 이등분 탐색 프로토콜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pic>
        <p:nvPicPr>
          <p:cNvPr id="6" name="Image 0" descr="C:\Users\cd476\workspace\thesis\presentation\images\zk_p6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114800"/>
            <a:ext cx="8229600" cy="502920"/>
          </a:xfrm>
          <a:prstGeom prst="rect">
            <a:avLst>
              <a:gd name="adj" fmla="val 18182"/>
            </a:avLst>
          </a:prstGeom>
          <a:solidFill>
            <a:srgbClr val="1C283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1879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라운드 × 2 메시지 = 146 메시지 | 29.2 KB 데이터 | ~7초 (50ms 지연시) | ZK 증명: 8-10B gates, 30-50초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온디맨드 유효성 증명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>
              <a:gd name="adj" fmla="val 14286"/>
            </a:avLst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아이디어: 단일 명령어만 증명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배치가 아닌, 분쟁 지점의 단일 EVM 명령어에 대해서만 ZK 증명 생성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생성 프로세스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872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준비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지점 명령어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전/후 상태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증명 생성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ZK-EVM 회로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명령어 증명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온체인 제출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컨트랙트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검증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당사자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승리 선언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크기 최소화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배치 대비 극소량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시간 단축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명령어로 빠른 생성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효율성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시에만 비용 발생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실험 결과 - 비용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pic>
        <p:nvPicPr>
          <p:cNvPr id="6" name="Image 0" descr="C:\Users\cd476\workspace\thesis\presentation\images\zk_p8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411480"/>
          </a:xfrm>
          <a:prstGeom prst="rect">
            <a:avLst>
              <a:gd name="adj" fmla="val 22222"/>
            </a:avLst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79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 비용 절감 (30 Gwei 기준: $3,942 → $61.34) | 208배 페널티 팩터로 공격 억제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시 비용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83464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6344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시 비용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83464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3621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834640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63440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36210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1~2시간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호환성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834640" y="3968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63440" y="3968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39684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논문 1, 2 시스템에의 적용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통합 효과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 시스템 (논문 1)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749040" cy="9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7일 확정 지연  →  After: 1~2시간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실시간에 가까운 금융 거래 확정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기존 2계층 아키텍처 그대로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금융 규제 요건 충족 가능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 (논문 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749040" cy="9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7일 확정 지연  →  After: 1~2시간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 소유권 이전/삭제의 신속한 확정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99.99% 비용 절감 효과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경험 대폭 개선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솔루션 완성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1, 2에서 제기된 분쟁 해결 지연 문제가 논문 3의 하이브리드 프로토콜로 해결되어,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장점을 온전히 활용할 수 있는 완전한 계층 2 솔루션이 구축됨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학문적 기여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기여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RVP 패러다임 제안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옵티미스틱과 ZK의 장점을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상황에 따라 적응적으로 결합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764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 설계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 이등분 + 온디맨드 ZK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해결 가스 99.6% 절감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 7일→1~2시간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실증적 기여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 도메인 검증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CBDC, 분산 스토리지에서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가능성 및 성능 실증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8229600" cy="1280160"/>
          </a:xfrm>
          <a:prstGeom prst="rect">
            <a:avLst>
              <a:gd name="adj" fmla="val 7143"/>
            </a:avLst>
          </a:prstGeom>
          <a:solidFill>
            <a:srgbClr val="1C28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297180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900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33756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3558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확정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70332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6304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완성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연구의 한계 및 향후 연구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연구의 한계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ZK-EVM 기술 성숙도에 따른 증명 생성 시간 변동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스마트 컨트랙트에서의 증명 크기 증가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채널 참여자의 온라인 요구사항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실제 환경에서의 추가 검증 필요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연구 방향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확장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롤업 간 상호운용성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집계를 통한 추가 비용 절감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응용 확장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탈중앙화 금융(DeFi) 프로토콜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관리, 디지털 신원 인증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심화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다자간 분쟁 해결 프로토콜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양자 내성 영지식 증명 통합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논문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비용 절감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 (7일→)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108960"/>
            <a:ext cx="6400800" cy="914400"/>
          </a:xfrm>
          <a:prstGeom prst="rect">
            <a:avLst>
              <a:gd name="adj" fmla="val 10000"/>
            </a:avLst>
          </a:prstGeom>
          <a:solidFill>
            <a:srgbClr val="17A2B8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200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옵티미스틱의 비용 효율성 + ZK의 빠른 확정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프로토콜로 블록체인 확장성 트릴레마의 새로운 해결책 제시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분쟁 해결 지연 문제 극복을 위한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설계 및 응용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숭실대학교 대학원 컴퓨터학과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황재승 (Jae-seung Hwang)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4297680"/>
            <a:ext cx="2743200" cy="457200"/>
          </a:xfrm>
          <a:prstGeom prst="rect">
            <a:avLst>
              <a:gd name="adj" fmla="val 20000"/>
            </a:avLst>
          </a:prstGeom>
          <a:solidFill>
            <a:srgbClr val="2E405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숭실대학교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옵티미스틱 롤업의 분쟁 해결 지연 문제 극복을 위한 하이브리드 프로토콜 설계 및 응용</dc:title>
  <dc:subject>박사학위 청구논문</dc:subject>
  <dc:creator>Jae-seung Hwang</dc:creator>
  <cp:lastModifiedBy>Jae-seung Hwang</cp:lastModifiedBy>
  <cp:revision>1</cp:revision>
  <dcterms:created xsi:type="dcterms:W3CDTF">2026-01-26T01:38:03Z</dcterms:created>
  <dcterms:modified xsi:type="dcterms:W3CDTF">2026-01-26T01:38:03Z</dcterms:modified>
</cp:coreProperties>
</file>