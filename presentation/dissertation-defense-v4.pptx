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시작]
안녕하십니까. 숭실대학교 대학원 컴퓨터학과 황재승입니다.
오늘 "옵티미스틱 롤업의 분쟁 해결 지연 문제 극복을 위한 하이브리드 프로토콜 설계 및 응용"이라는 주제로 박사학위 청구논문 발표를 진행하겠습니다.
[예상 질문]
- 연구 기간은 얼마나 되었나요?
- 지도교수님과의 협업 방식은?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[목차 설명]
본 논문은 총 6개 장으로 구성되어 있습니다.
1장 서론에서는 연구 배경과 문제 정의를 다루고,
2장에서는 롤업 기술 관련 선행 연구를 살펴봅니다.
3장과 4장은 각각 제가 발표한 2편의 논문으로,
- 3장: 옵티미스틱 롤업 기반 CBDC 시스템 (출판 완료)
- 4장: 옵티미스틱 롤업 기반 분산 스토리지 (출판 확정)
5장이 본 논문의 핵심 기여인 ZK 상태 채널 기반 하이브리드 분쟁 프로토콜입니다.
6장에서 결론 및 향후 연구를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 배경]
블록체인 기술의 가장 큰 기술적 과제는 확장성입니다.
이더리움 메인넷은 초당 15-30건의 거래만 처리 가능하고,
가스 비용이 매우 높아 대중적 서비스 적용에 한계가 있습니다.
블록체인 트릴레마란 탈중앙화, 보안성, 확장성 세 가지를
동시에 달성하기 어렵다는 것을 의미합니다.
이를 해결하기 위해 계층 2 솔루션이 등장했으며,
그 중 옵티미스틱 롤업은 오프체인에서 트랜잭션을 실행하고
온체인에서 검증하는 방식으로 확장성을 제공합니다.
실제로 Arbitrum, Optimism, Base 등이 운영 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[핵심 문제 - 강조해서 설명]
옵티미스틱 롤업의 치명적인 한계점이 바로 "7일 확정 지연"입니다.
분쟁이 발생하면 7일간의 이의 제기 기간(Challenge Period)이 필수적으로 요구됩니다.
이는 사기 증명(Fraud Proof) 방식의 본질적 한계입니다.
실질적 영향:
- 금융 서비스: 즉시 결제가 불가능
- 실시간 거래: 7일을 기다려야 함
- 사용자 경험: 서비스 적용에 심각한 제약
본 연구의 목표는 이 7일 지연을 1~2시간으로 대폭 단축하는 것입니다.
[예상 질문]
Q: 왜 정확히 7일인가요?
A: 이더리움 네트워크 지연, 검증자 응답 시간 등을 고려한 보수적 설정입니다.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 기여 요약]
본 연구의 학문적 기여는 크게 세 가지입니다:
1. 이론적 기여: RVP(Reactive Validity Proof) 패러다임 제안
   - 옵티미스틱과 ZK 롤업의 장점을 상황에 따라 적응적으로 결합
2. 기술적 기여: 오프체인 이등분 탐색 + 온디맨드 ZK 증명
   - 실제 구현 가능한 프로토콜 설계
3. 실증적 기여: CBDC와 분산 스토리지 두 도메인에서 검증
   - 다양한 응용 분야 적용 가능성 실증
본 논문은 3편의 연구 논문을 기반으로 합니다:
- 논문 1: CBDC 시스템 (출판 완료)
- 논문 2: 분산 스토리지 (출판 확정)
- 논문 3: 하이브리드 분쟁 프로토콜 (핵심 기여, 초안 완성)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[관련 연구 - 롤업 기술 비교]
계층 2 롤업은 크게 두 가지 방식으로 나뉩니다:
옵티미스틱 롤업:
- 사기 증명(Fraud Proof) 방식
- 트랜잭션이 유효하다고 "낙관적으로" 가정
- 분쟁 시 7일 이의 제기 기간 필요 (단점)
- 증명 비용이 낮음 (장점)
- EVM 호환성 높음 (장점)
- 대표: Arbitrum, Optimism, Base
ZK 롤업:
- 유효성 증명(Validity Proof) 방식
- 모든 트랜잭션에 대해 영지식 증명 생성
- 즉시 확정 가능 (장점)
- 증명 생성 비용이 높음 (단점)
- EVM 호환성 아직 개선 중
- 대표: zkSync, Polygon zkEVM, Scroll
핵심 트레이드오프:
옵티미스틱은 비용 효율적이지만 7일 확정 지연이 있고,
ZK는 즉시 확정되지만 증명 비용이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[관련 연구 - 상태 채널]
상태 채널은 블록체인 확장성 솔루션의 하나입니다.
정의:
블록체인 외부(오프체인)에서 참여자 간 상태 업데이트를 수행하고,
최종 결과만 온체인에 기록하는 방식입니다.
핵심 특성:
1. 즉각적 확정: 오프체인에서 참여자 간 합의로 즉시 상태 확정
2. 최소 비용: 중간 상태는 온체인에 기록하지 않아 가스 비용 절감
3. 높은 처리량: 블록체인의 블록 생성 시간 제약 없이 무제한 상호작용
4. 프라이버시: 채널 내 거래 내역은 참여자만 알 수 있음
대표 사례:
- Lightning Network (비트코인)
- Raiden Network (이더리움)
- Celer Network
본 연구에서의 활용:
RVP 프로토콜은 ZK 상태 채널을 활용하여 분쟁을 해결합니다.
- 분쟁 당사자(Asserter, Challenger)가 오프체인 상태 채널 개설
- 채널 내에서 이등분 탐색 수행 (온체인 비용 없음)
- 분쟁 지점 확정 후 ZK 증명 생성
- 최종 결과만 온체인에 제출
이를 통해 온체인 분쟁 비용을 99.6% 절감합니다.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1: CBDC 시스템 개요]
이제 첫 번째 연구인 CBDC 시스템에 대해 설명드리겠습니다.
CBDC(Central Bank Digital Currency)란 중앙은행이 발행하는 디지털 형태의 법정화폐입니다.
CBDC 시스템의 기술적 요구사항:
1. 높은 처리량 - 국가 단위 결제 시스템 지원
2. 낮은 거래 비용 - 소액 결제도 가능해야 함
3. 선형적 확장성 - 수요 증가에 대응
4. 프라이버시 보호 - 개인정보 보호
5. 규제 준수 - 금융 규제 요건 충족
제안 접근법:
옵티미스틱 롤업 기반 2계층 CBDC 아키텍처를 설계했습니다.
- L1(Layer 1): 중앙은행 - 최종 정산, 통화 정책
- L2(Layer 2): 시중은행 - 실제 거래 처리
이 구조는 실제 금융 시스템의 계층 구조를 자연스럽게 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[CBDC 아키텍처 다이어그램 설명]
이 다이어그램은 CBDC 시스템의 입금 플로우를 보여줍니다.
주요 컴포넌트:
- Wallet: 사용자 지갑
- L1 (Ethereum): 중앙은행 역할, 최종 정산
- DTL (Data Transport Layer): 계층 간 데이터 전송
- L2 (Optimistic Rollup): 시중은행 역할, 실제 거래 처리
- BS (Block Synchronizer): 블록 동기화
플로우:
1. 사용자가 L1에 CBDC 입금 요청
2. L1에서 토큰 락업(Lock)
3. DTL을 통해 L2로 메시지 전달
4. L2에서 동일 금액의 CBDC 발행
5. 사용자가 L2에서 빠르게 거래 가능
이 구조의 장점은 L2에서 빠른 거래가 가능하면서도
L1의 보안성을 상속받는다는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[CBDC 실험 결과]
CBDC 시스템의 확장성 실험 결과를 보여드리겠습니다.
TPS(Transactions Per Second) 차트:
- L2 노드 1개: 698 TPS
- L2 노드 5개: 3,484 TPS
- L2 노드 10개: 6,989 TPS
- L2 노드 15개: 10,483 TPS
핵심 성과:
노드 수에 비례하여 거의 완벽한 선형 확장성(15.02배)을 달성했습니다.
이는 국가 단위 결제 시스템에 적용 가능한 수준입니다.
크로스-L2 전송:
다이어그램은 서로 다른 L2(시중은행) 간의 CBDC 전송 플로우를 보여줍니다.
L1을 경유하여 안전한 크로스-체인 전송이 가능합니다.
적용 한계:
그러나 여전히 7일 확정 지연 문제가 존재합니다.
금융 서비스에서 즉시 결제가 불가능하고,
실시간 거래 요구사항을 충족하지 못합니다.
→ 이것이 논문 3에서 해결하고자 하는 핵심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2: 분산 스토리지 개요]
두 번째 연구인 분산 스토리지 시스템에 대해 설명드리겠습니다.
기존 IPFS-이더리움 통합 시스템의 문제점:
1. 파일당 개별 온체인 거래 필요 → 트랜잭션 비용 급증
2. 1000개 파일 저장 시 약 $2,847의 가스 비용 발생
3. 네트워크 혼잡 시 심각한 처리 지연
제안 접근법:
옵티미스틱 롤업을 중간 계층으로 도입한 3계층 구조:
- 저장 계층: IPFS (실제 파일 저장)
- 처리 계층: 옵티미스틱 롤업 (메타데이터 배치 처리)
- 정산 계층: 이더리움 (최종 상태 기록)
핵심 아이디어:
파일 메타데이터를 배치로 묶어서 처리함으로써
온체인 거래 수를 대폭 감소시킵니다.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[분산 스토리지 아키텍처 다이어그램 설명]
이 시퀀스 다이어그램은 분산 스토리지 시스템의 동작 흐름을 보여줍니다.
주요 참여자:
- Data Owner: 파일 소유자
- User: 파일 사용자
- Contracts: 스마트 컨트랙트 (접근 제어, 결제)
- L2: 옵티미스틱 롤업 (배치 처리)
- IPFS: 분산 파일 저장소
- Ethereum: 최종 상태 기록
파일 업로드 플로우:
1. Data Owner가 파일을 IPFS에 업로드
2. IPFS 해시(CID)를 L2의 컨트랙트에 등록
3. L2에서 배치로 묶어서 처리
4. 최종 상태를 Ethereum에 기록
파일 접근 플로우:
1. User가 접근 권한 요청
2. 컨트랙트에서 권한 확인
3. 승인 시 IPFS에서 파일 다운로드
이 구조의 장점은 개별 파일마다 온체인 거래가 필요 없다는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[분산 스토리지 실험 결과]
분산 스토리지 시스템의 실험 결과입니다.
비용 절감:
- 기존: 1000 파일 저장 시 $2,847
- 제안: 1000 파일 저장 시 $0.28
- 절감율: 99.99%
처리 시간 개선:
- 기존: 1000 파일 처리에 4.6시간
- 제안: 1000 파일 처리에 1.7분
- 개선율: 99.4%
비교표 설명:
- 평균 거래 비용: $2.85/건 → $0.00028/건
- 평균 처리 시간: 16.5초/건 → 0.1초/건
적용 한계:
여전히 7일 확정 지연 문제가 있습니다.
파일 소유권 이전, 삭제 요청 등의 즉각적 상태 변경이 불가능합니다.
예를 들어, 파일 삭제를 요청해도 7일 후에야 확정됩니다.
이것이 논문 1과 공통되는 한계점입니다.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[전환 슬라이드 - 핵심 문제 강조]
지금까지 발표한 논문 1, 2의 공통 한계를 정리하겠습니다.
논문 1 (CBDC 시스템):
- 성과: 선형 확장성으로 10,483 TPS 달성
- 한계: 분쟁 발생 시 7일 확정 지연
논문 2 (분산 스토리지):
- 성과: 99.99% 비용 절감
- 한계: 분쟁 발생 시 7일 확정 지연
두 시스템 모두 옵티미스틱 롤업의 이점을 누리지만,
"7일 확정 지연"이라는 공통된 한계점이 있습니다.
[강조]
이 문제를 해결하는 것이 바로 논문 3의 핵심 기여입니다.
다음 슬라이드부터 논문 3의 하이브리드 프로토콜을 설명드리겠습니다.
이것이 본 학위논문의 가장 중요한 학술적 기여입니다.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3: RVP 패러다임 - 시스템 아키텍처]
이제 본 논문의 핵심 기여인 RVP(Reactive Validity Proof) 패러다임을 설명드리겠습니다.
RVP 패러다임의 핵심 아이디어:
- 평상시: 옵티미스틱 방식으로 비용 효율적 운영
- 분쟁 시: ZK 증명으로 빠른 확정
시스템 아키텍처 (다이어그램 설명):
1. Layer 1 (Ethereum): 최종 정산 및 분쟁 판정
2. Off-chain ZK State Channel: 분쟁 당사자 간 오프체인 협상
3. Prover Network: 필요 시 ZK 증명 생성
주요 컴포넌트:
- Optimistic Rollup: 기존 옵티미스틱 롤업 시스템
- ZK State Channel Contract: 상태 채널 관리
- Dispute Resolution Contract: 분쟁 판정
- Prover Network: 분산 증명자 네트워크
장점:
- 기존 옵티미스틱 롤업과 완전 호환
- 분쟁 시에만 추가 비용 발생
- 7일 → 1~2시간으로 확정 시간 단축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[오프체인 이등분 탐색 프로토콜]
분쟁 해결의 첫 번째 단계인 이등분 탐색 프로토콜입니다.
다이어그램 설명:
분쟁이 발생하면 오프체인에서 Asserter와 Challenger가
상태 채널을 통해 이등분 탐색(Binary Search)을 수행합니다.
프로토콜 동작:
1. Asserter가 상태 루트 제출
2. Challenger가 이의 제기
3. 상태 채널에서 이등분 탐색 시작
4. 각 라운드에서 탐색 범위를 절반으로 축소
5. 최종적으로 단일 EVM 명령어까지 좁혀짐
성능 지표:
- 총 라운드: 73 (log₂(2^73) EVM 스텝 커버)
- 메시지 수: 146개 (라운드당 2개)
- 데이터량: 29.2 KB
- 소요 시간: 약 7초 (50ms 네트워크 지연 기준)
- ZK 증명: 8-10 billion gates, 30-50초
이 프로토콜의 핵심은 온체인 비용 없이 분쟁 지점을 정확히 찾는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[온디맨드 유효성 증명]
이등분 탐색으로 분쟁 지점을 찾은 후, ZK 증명을 생성합니다.
핵심 아이디어:
전체 배치가 아닌, 분쟁 지점의 "단일 EVM 명령어"에 대해서만 ZK 증명을 생성합니다.
증명 생성 프로세스:
1. 입력 준비: 분쟁 지점 명령어와 전/후 상태
2. ZK 증명 생성: ZK-EVM 회로로 단일 명령어 증명
3. 온체인 제출: 검증 컨트랙트에 증명 제출
4. 판정: 정직한 당사자 승리 선언
장점:
1. 증명 크기 최소화
   - 전체 배치 증명 대비 극소량
2. 생성 시간 단축
   - 단일 명령어만 증명하므로 빠름
3. 비용 효율성
   - 분쟁 시에만 증명 비용 발생
   - 정상 운영 시 추가 비용 없음
이것이 "온디맨드(On-demand)"의 핵심입니다.
항상 증명하는 것이 아니라 필요할 때만 증명합니다.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[실험 결과 - 비용 비교]
하이브리드 프로토콜의 실험 결과입니다.
차트 설명 (가스 비용 비교):
- 기존 옵티미스틱: 분쟁 시 약 5M 가스
- 제안 프로토콜: 분쟁 시 약 20K 가스
- 절감율: 99.6%
금액 환산 (30 Gwei 기준):
- 기존: $3,942
- 제안: $61.34
- 절감율: 98.4%
비교표 설명:
               옵티미스틱  ZK롤업    제안방식
정상 시 비용    낮음       높음      낮음
분쟁 시 비용    높음       낮음      낮음
확정 시간       7일        즉시      1~2시간
EVM 호환성     높음       중간      높음
제안 방식의 장점:
- 옵티미스틱의 비용 효율성 유지
- ZK의 빠른 확정 이점 획득
- 높은 EVM 호환성 유지
208배 페널티 팩터:
악의적 공격자는 208배의 페널티를 부담하므로
경제적으로 공격이 비합리적입니다.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[논문 1, 2 시스템에의 적용]
하이브리드 프로토콜을 논문 1, 2 시스템에 적용한 효과입니다.
CBDC 시스템 (논문 1) 적용:
- Before: 7일 확정 지연
- After: 1~2시간 확정
- 효과:
  · 실시간에 가까운 금융 거래 확정
  · 기존 2계층 아키텍처 그대로 유지
  · 금융 규제 요건 충족 가능
분산 스토리지 (논문 2) 적용:
- Before: 7일 확정 지연
- After: 1~2시간 확정
- 효과:
  · 파일 소유권 이전/삭제의 신속한 확정
  · 99.99% 비용 절감 효과 유지
  · 사용자 경험 대폭 개선
통합 솔루션 완성:
논문 1, 2에서 제기된 7일 분쟁 해결 지연 문제가
논문 3의 하이브리드 프로토콜로 해결되었습니다.
이제 옵티미스틱 롤업의 장점을 온전히 활용할 수 있는
완전한 계층 2 솔루션이 구축되었습니다.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[학문적 기여 요약]
본 연구의 학문적 기여를 정리하겠습니다.
이론적 기여 (T):
- RVP(Reactive Validity Proof) 패러다임 제안
- 옵티미스틱과 ZK의 장점을 상황에 따라 적응적으로 결합
- 평상시 옵티미스틱, 분쟁시 ZK라는 새로운 패러다임
프로토콜 설계 (P):
- 오프체인 이등분 탐색 + 온디맨드 ZK 증명
- 분쟁 해결 가스 비용 99.6% 절감
- 확정 시간 7일 → 1~2시간으로 단축
실증적 기여 (E):
- 2개 도메인에서 검증
  · CBDC: 금융 시스템
  · 분산 스토리지: 데이터 관리 시스템
- 적용 가능성 및 성능 실증
연구 논문 구성:
- 논문 1: CBDC 시스템 (출판 완료)
- 논문 2: 분산 스토리지 (출판 확정)
- 논문 3: 하이브리드 분쟁 프로토콜 (초안 완성)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[연구의 한계 및 향후 연구]
연구의 한계점과 향후 연구 방향을 말씀드리겠습니다.
연구의 한계:
1. ZK-EVM 기술 성숙도
   - 증명 생성 시간이 ZK-EVM 발전에 따라 변동
   - 현재 기술로는 30-50초 소요
2. 복잡한 스마트 컨트랙트
   - 복잡한 컨트랙트에서 증명 크기가 증가할 수 있음
3. 상태 채널 참여자의 온라인 요구
   - 분쟁 당사자가 오프라인이면 프로토콜 진행 지연
4. 대규모 실제 환경
   - 추가적인 대규모 테스트 필요
향후 연구 방향:
1. 기술적 확장
   - 다중 롤업 간 상호운용성
   - 증명 집계를 통한 추가 비용 절감
2. 응용 확장
   - DeFi 프로토콜, 공급망 관리, 디지털 신원 인증
3. 이론적 심화
   - 다자간 분쟁 해결 프로토콜
   - 양자 내성 영지식 증명 통합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 요약 - 결론]
본 연구의 핵심 성과를 요약하겠습니다.
핵심 수치:
- 3편의 연구 논문
  · 논문 1: CBDC 시스템 (출판 완료)
  · 논문 2: 분산 스토리지 (출판 확정)
  · 논문 3: 하이브리드 분쟁 프로토콜 (핵심 기여)
- 99.6% 가스 비용 절감
  · 분쟁 해결 비용: $3,942 → $61.34
- 1~2시간 확정 시간 (기존 7일에서 단축)
핵심 성과:
"옵티미스틱의 비용 효율성 + ZK의 빠른 확정"
하이브리드 프로토콜을 통해 블록체인 확장성 트릴레마의
새로운 해결책을 제시했습니다.
본 연구는 계층 2 솔루션의 실용성을 크게 향상시키며,
금융, 스토리지 등 다양한 분야에 적용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[감사 슬라이드 - Q&amp;A]
이상으로 "옵티미스틱 롤업의 분쟁 해결 지연 문제 극복을 위한
하이브리드 프로토콜 설계 및 응용"에 대한 발표를 마치겠습니다.
질문을 받겠습니다.
[예상 질문 및 답변]
Q1: 왜 7일 확정 지연이 문제인가요?
A1: 금융 서비스는 실시간 결제가 필수적입니다. 7일은 사용자 경험을 크게 저하시킵니다.
Q2: ZK 롤업 대신 왜 하이브리드 방식인가요?
A2: ZK 롤업은 모든 트랜잭션에 증명 비용이 발생합니다. 하이브리드는 분쟁 시에만 비용 발생.
Q3: 1~2시간도 여전히 길지 않나요?
A3: 기존 7일 대비 99% 이상 단축입니다. 또한 대부분의 트랜잭션은 분쟁 없이 즉시 처리됩니다.
Q4: 실제 적용 사례는?
A4: 논문 1의 CBDC, 논문 2의 분산 스토리지에서 검증했습니다.
Q5: 보안성은 어떻게 보장되나요?
A5: ZK 증명의 수학적 보안성 + 208배 페널티로 공격 억제.
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Application of a Hybrid Protocol for Overcoming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Resolution Delays in Optimistic Rollups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박사학위 청구논문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지도교수: 김영한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2월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 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1 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2 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연구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3 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4 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5 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3200400" cy="365760"/>
          </a:xfrm>
          <a:prstGeom prst="rect">
            <a:avLst/>
          </a:prstGeom>
          <a:solidFill>
            <a:srgbClr val="FEF9E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 6 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확장성 문제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이더리움 메인넷: 15-30 TPS, 높은 가스 비용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대중적 서비스 적용의 근본적 한계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트릴레마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0"/>
            <a:ext cx="1828800" cy="548640"/>
          </a:xfrm>
          <a:prstGeom prst="rect">
            <a:avLst>
              <a:gd name="adj" fmla="val 16667"/>
            </a:avLst>
          </a:prstGeom>
          <a:solidFill>
            <a:srgbClr val="1C283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2 솔루션의 등장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롤업: 오프체인 실행 + 온체인 검증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 등 실제 운영 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 - 핵심 문제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914400"/>
          </a:xfrm>
          <a:prstGeom prst="rect">
            <a:avLst>
              <a:gd name="adj" fmla="val 10000"/>
            </a:avLst>
          </a:prstGeom>
          <a:solidFill>
            <a:srgbClr val="FDEDEC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치명적 한계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7일간의 이의 제기 기간 필수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실질적 영향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서비스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결제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거래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대기 필수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4688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경험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제약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목표: 7일 확정 지연 → 1~2시간으로 단축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기여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학문적 기여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기여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온디맨드 ZK 증명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스토리지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적용 검증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논문 구성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443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015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587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 (핵심 기여)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관련 연구 - 롤업 기술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사기 증명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Arbitrum, Optimism, 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 w="2540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롤업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유효성 증명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호환성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zkSync, Polygon zkEVM, Scroll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트레이드오프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옵티미스틱: 비용 효율적이나 7일 확정 지연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ZK: 즉시 확정이나 높은 증명 비용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관련 연구 - 상태 채널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채널 (State Channel)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22960"/>
          </a:xfrm>
          <a:prstGeom prst="rect">
            <a:avLst>
              <a:gd name="adj" fmla="val 11111"/>
            </a:avLst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외부(오프체인)에서 참여자 간 상태 업데이트를 수행하고,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결과만 온체인에 기록하는 확장성 솔루션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01168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즉각적 확정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합의로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상태 확정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514600"/>
            <a:ext cx="201168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비용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상태는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기록 불필요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201168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처리량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병목 없이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 상호작용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514600"/>
            <a:ext cx="201168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내 거래는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외부에 비공개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연구에서의 활용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731520"/>
          </a:xfrm>
          <a:prstGeom prst="rect">
            <a:avLst>
              <a:gd name="adj" fmla="val 12500"/>
            </a:avLst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분쟁 해결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당사자 간 오프체인 이등분 탐색 수행 → 온체인 비용 최소화, 빠른 분쟁 해결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 디지털 화폐 (CBDC)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중앙은행이 발행하는 디지털 형태의 법정화폐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요구사항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처리량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거래 비용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선형적 확장성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 보호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준수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822960"/>
          </a:xfrm>
          <a:prstGeom prst="rect">
            <a:avLst>
              <a:gd name="adj" fmla="val 11111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2계층 CBDC 아키텍처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중앙은행(L1) + 시중은행(L2) 구조로 실제 금융 시스템 반영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pic>
        <p:nvPicPr>
          <p:cNvPr id="6" name="Image 0" descr="C:\Users\cd476\workspace\thesis\presentation\images\cbdc_p6_img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L1↔L2 CBDC 입금 플로우 (Wallet → L1 → DTL → L2 → BS)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CBDC 시스템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17A2B8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371600"/>
          </a:xfrm>
          <a:prstGeom prst="rect">
            <a:avLst>
              <a:gd name="adj" fmla="val 6667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확장성 달성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노드 수에 따른 TPS: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1개 노드: 698 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5개 노드: 3,484 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 노드: 6,989 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15개 노드: 10,483 TPS (15.02x 확장)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371600"/>
          </a:xfrm>
          <a:prstGeom prst="rect">
            <a:avLst>
              <a:gd name="adj" fmla="val 6667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확정 지연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금융 서비스에서 즉시 결제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거래 요구사항 미충족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분쟁 발생 시 7일 대기 필수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크로스-L2 CBDC 전송 플로우</a:t>
            </a:r>
            <a:endParaRPr lang="en-US" sz="1400" dirty="0"/>
          </a:p>
        </p:txBody>
      </p:sp>
      <p:pic>
        <p:nvPicPr>
          <p:cNvPr id="15" name="Image 0" descr="C:\Users\cd476\workspace\thesis\presentation\images\cbdc_p8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0"/>
            <a:ext cx="85953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기반 분산 스토리지의 문제점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1188720"/>
          </a:xfrm>
          <a:prstGeom prst="rect">
            <a:avLst>
              <a:gd name="adj" fmla="val 7692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IPFS-이더리움 통합 시스템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파일당 개별 온체인 거래 필요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1000 파일 저장 시 약 $2,847 가스 비용
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네트워크 혼잡 시 심각한 처리 지연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접근법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중간 계층 도입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+ 옵티미스틱 롤업(L2) + 이더리움(L1) 3계층 구조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메타데이터 배치 처리로 거래 수 대폭 감소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pic>
        <p:nvPicPr>
          <p:cNvPr id="6" name="Image 0" descr="C:\Users\cd476\workspace\thesis\presentation\images\storage_p9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 시퀀스 다이어그램: Data Owner/User ↔ Contracts ↔ L2 ↔ IPFS ↔ Ethereum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분산 스토리지 - 실험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365760"/>
          </a:xfrm>
          <a:prstGeom prst="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$2,847 → $0.28 (1000 파일)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시간 개선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4.6시간 → 1.7분 (1000 파일)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메인넷 직접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롤업 적용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거래 비용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$2.85/건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$0.00028/건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처리 시간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16.5초/건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0.1초/건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한계: 7일 확정 지연 - 파일 소유권 이전, 삭제 요청의 즉각적 상태 변경 불가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2의 공통 한계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920240"/>
            <a:ext cx="5486400" cy="73152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발생 시 7일 확정 지연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10,483 TPS 달성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926080"/>
            <a:ext cx="2926080" cy="1005840"/>
          </a:xfrm>
          <a:prstGeom prst="rect">
            <a:avLst>
              <a:gd name="adj" fmla="val 9091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비용 절감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7일 대기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문제를 해결하는 것이 논문 3의 핵심 기여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RVP 패러다임 - 시스템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5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411480"/>
          </a:xfrm>
          <a:prstGeom prst="rect">
            <a:avLst>
              <a:gd name="adj" fmla="val 22222"/>
            </a:avLst>
          </a:prstGeom>
          <a:solidFill>
            <a:srgbClr val="1C283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279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(Ethereum) + Off-chain ZK State Channel + Prover Network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오프체인 이등분 탐색 프로토콜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6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114800"/>
            <a:ext cx="8229600" cy="502920"/>
          </a:xfrm>
          <a:prstGeom prst="rect">
            <a:avLst>
              <a:gd name="adj" fmla="val 18182"/>
            </a:avLst>
          </a:prstGeom>
          <a:solidFill>
            <a:srgbClr val="1C283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1879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라운드 × 2 메시지 = 146 메시지 | 29.2 KB 데이터 | ~7초 (50ms 지연시) | ZK 증명: 8-10B gates, 30-50초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온디맨드 유효성 증명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>
              <a:gd name="adj" fmla="val 14286"/>
            </a:avLst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아이디어: 단일 명령어만 증명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배치가 아닌, 분쟁 지점의 단일 EVM 명령어에 대해서만 ZK 증명 생성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생성 프로세스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872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준비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지점 명령어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전/후 상태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증명 생성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회로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 증명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온체인 제출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컨트랙트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검증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057400"/>
            <a:ext cx="201168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2148840"/>
            <a:ext cx="365760" cy="36576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당사자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승리 선언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크기 최소화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배치 대비 극소량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시간 단축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명령어로 빠른 생성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749040"/>
            <a:ext cx="2651760" cy="685800"/>
          </a:xfrm>
          <a:prstGeom prst="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효율성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시에만 비용 발생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실험 결과 - 비용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280160" cy="365760"/>
          </a:xfrm>
          <a:prstGeom prst="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228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기여</a:t>
            </a:r>
            <a:endParaRPr lang="en-US" sz="1200" dirty="0"/>
          </a:p>
        </p:txBody>
      </p:sp>
      <p:pic>
        <p:nvPicPr>
          <p:cNvPr id="6" name="Image 0" descr="C:\Users\cd476\workspace\thesis\presentation\images\zk_p8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474720"/>
            <a:ext cx="82296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5021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51760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560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롤업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3502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방식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794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시 비용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5176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8056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0507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시 비용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51760" y="4050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80560" y="4050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4050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30682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51760" y="43068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80560" y="43068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09360" y="43068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비용 절감 (30 Gwei 기준: $3,942 → $61.34) | 208배 페널티 팩터로 공격 억제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논문 1, 2 시스템에의 적용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통합 효과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 시스템 (논문 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실시간에 가까운 금융 거래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기존 2계층 아키텍처 그대로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금융 규제 요건 충족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스토리지 (논문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749040" cy="914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7일 확정 지연  →  After: 1~2시간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 소유권 이전/삭제의 신속한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99.99% 비용 절감 효과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경험 대폭 개선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솔루션 완성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1, 2에서 제기된 분쟁 해결 지연 문제가 논문 3의 하이브리드 프로토콜로 해결되어,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장점을 온전히 활용할 수 있는 완전한 계층 2 솔루션이 구축됨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학문적 기여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RVP 패러다임 제안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옵티미스틱과 ZK의 장점을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상황에 따라 적응적으로 결합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설계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오프체인 이등분 + 온디맨드 ZK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분쟁 해결 가스 99.6% 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7일→1~2시간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173736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457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051560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789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실증적 기여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도메인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CBDC, 분산 스토리지에서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가능성 및 성능 실증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1280160"/>
          </a:xfrm>
          <a:prstGeom prst="rect">
            <a:avLst>
              <a:gd name="adj" fmla="val 7143"/>
            </a:avLst>
          </a:prstGeom>
          <a:solidFill>
            <a:srgbClr val="1C28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97180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900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CBDC 시스템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558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 기반 분산 스토리지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확정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703320"/>
            <a:ext cx="731520" cy="274320"/>
          </a:xfrm>
          <a:prstGeom prst="rect">
            <a:avLst>
              <a:gd name="adj" fmla="val 16667"/>
            </a:avLst>
          </a:prstGeom>
          <a:solidFill>
            <a:srgbClr val="17A2B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상태 채널 기반 하이브리드 분쟁 프로토콜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완성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연구의 한계 및 향후 연구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연구의 한계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ZK-EVM 기술 성숙도에 따른 증명 생성 시간 변동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스마트 컨트랙트에서의 증명 크기 증가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채널 참여자의 온라인 요구사항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31920" cy="411480"/>
          </a:xfrm>
          <a:prstGeom prst="rect">
            <a:avLst>
              <a:gd name="adj" fmla="val 11111"/>
            </a:avLst>
          </a:prstGeom>
          <a:solidFill>
            <a:srgbClr val="FDEDE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실제 환경에서의 추가 검증 필요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확장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롤업 간 상호운용성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 집계를 통한 추가 비용 절감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확장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탈중앙화 금융(DeFi)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관리, 디지털 신원 인증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777240"/>
          </a:xfrm>
          <a:prstGeom prst="rect">
            <a:avLst>
              <a:gd name="adj" fmla="val 5882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심화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다자간 분쟁 해결 프로토콜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 내성 영지식 증명 통합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출판 논문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비용 절감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286000" cy="1188720"/>
          </a:xfrm>
          <a:prstGeom prst="rect">
            <a:avLst>
              <a:gd name="adj" fmla="val 7692"/>
            </a:avLst>
          </a:prstGeom>
          <a:solidFill>
            <a:srgbClr val="2E4053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시간 (7일→)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6400800" cy="914400"/>
          </a:xfrm>
          <a:prstGeom prst="rect">
            <a:avLst>
              <a:gd name="adj" fmla="val 10000"/>
            </a:avLst>
          </a:prstGeom>
          <a:solidFill>
            <a:srgbClr val="17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200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옵티미스틱의 비용 효율성 + ZK의 빠른 확정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프로토콜로 블록체인 확장성 트릴레마의 새로운 해결책 제시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옵티미스틱 롤업의 분쟁 해결 지연 문제 극복을 위한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프로토콜 설계 및 응용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숭실대학교 대학원 컴퓨터학과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황재승 (Jae-seung Hwang)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297680"/>
            <a:ext cx="2743200" cy="457200"/>
          </a:xfrm>
          <a:prstGeom prst="rect">
            <a:avLst>
              <a:gd name="adj" fmla="val 20000"/>
            </a:avLst>
          </a:prstGeom>
          <a:solidFill>
            <a:srgbClr val="2E405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숭실대학교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옵티미스틱 롤업의 분쟁 해결 지연 문제 극복을 위한 하이브리드 프로토콜 설계 및 응용</dc:title>
  <dc:subject>박사학위 청구논문</dc:subject>
  <dc:creator>Jae-seung Hwang</dc:creator>
  <cp:lastModifiedBy>Jae-seung Hwang</cp:lastModifiedBy>
  <cp:revision>1</cp:revision>
  <dcterms:created xsi:type="dcterms:W3CDTF">2026-01-26T02:34:19Z</dcterms:created>
  <dcterms:modified xsi:type="dcterms:W3CDTF">2026-01-26T02:34:19Z</dcterms:modified>
</cp:coreProperties>
</file>